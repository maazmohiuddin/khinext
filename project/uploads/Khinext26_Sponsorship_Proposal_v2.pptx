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C0E18"/>
          </a:solidFill>
          <a:ln w="12700">
            <a:solidFill>
              <a:srgbClr val="0C0E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18288" cy="5143500"/>
          </a:xfrm>
          <a:prstGeom prst="rect">
            <a:avLst/>
          </a:prstGeom>
          <a:solidFill>
            <a:srgbClr val="1E2340"/>
          </a:solidFill>
          <a:ln w="12700">
            <a:solidFill>
              <a:srgbClr val="1E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72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'26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Pakistan's Premier Tech &amp; Gaming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5029200" cy="914"/>
          </a:xfrm>
          <a:prstGeom prst="rect">
            <a:avLst/>
          </a:prstGeom>
          <a:solidFill>
            <a:srgbClr val="1E23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Dilkusha Hall  ·  Karachi  ·  2,856 sq ft  ·  100+ Capacity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4343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SPONSORSHIP PROPOSAL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 rot="5400000">
            <a:off x="786384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INNOVATE · INSPIRE · IMPACT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Khinext '26?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4023360" cy="11430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37360"/>
            <a:ext cx="54864" cy="11430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Gaming Festival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Pakistan's biggest console &amp; PC gaming showcase — tournaments, open play &amp; live commentary.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023360" cy="11430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737360"/>
            <a:ext cx="54864" cy="11430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Exhibition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128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Cutting-edge hardware, VR demos, esports setups and interactive tech installations.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4023360" cy="11430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08960"/>
            <a:ext cx="54864" cy="11430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Community-Driven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584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by Karachi's student &amp; youth tech community, for the next generation.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1430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08960"/>
            <a:ext cx="54864" cy="11430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Competitive Stage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bracket tournaments with prizes, commentary booth and broadcast-grade stage.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VENUE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Dilkusha Hall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Specifications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1965960" cy="132588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2,856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 FT FLOOR AREA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87752" y="1965960"/>
            <a:ext cx="1965960" cy="132588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68 ft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9192" y="2670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LENGTH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64024" y="1965960"/>
            <a:ext cx="1965960" cy="132588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 ft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55464" y="2670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WIDTH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40296" y="1965960"/>
            <a:ext cx="1965960" cy="132588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31736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12'4"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31736" y="2670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CEILING HEIGHT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Seating Configurations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PAX  —  Round Table Setup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72 PAX  —  Half Moon (8/table)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R.T.  —  Round Tables Included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12'4" ceiling accommodates LED tower rigs, suspended truss, and large-format displays.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FLOOR PLAN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Dilkusha Hall — Proposed Layout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5669280" cy="3246120"/>
          </a:xfrm>
          <a:prstGeom prst="rect">
            <a:avLst/>
          </a:prstGeom>
          <a:solidFill>
            <a:srgbClr val="0C0E18"/>
          </a:solidFill>
          <a:ln w="19050">
            <a:solidFill>
              <a:srgbClr val="1E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554480"/>
            <a:ext cx="1737360" cy="201168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5636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ENTRANCE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5486400" cy="658368"/>
          </a:xfrm>
          <a:prstGeom prst="rect">
            <a:avLst/>
          </a:prstGeom>
          <a:solidFill>
            <a:srgbClr val="1A3F99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391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2587752"/>
            <a:ext cx="1691640" cy="987552"/>
          </a:xfrm>
          <a:prstGeom prst="rect">
            <a:avLst/>
          </a:prstGeom>
          <a:solidFill>
            <a:srgbClr val="111422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62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PS5 ZONE  ×6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04288" y="2587752"/>
            <a:ext cx="2212848" cy="987552"/>
          </a:xfrm>
          <a:prstGeom prst="rect">
            <a:avLst/>
          </a:prstGeom>
          <a:solidFill>
            <a:srgbClr val="111422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9626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PC ARRAY  ×8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17720" y="2587752"/>
            <a:ext cx="1371600" cy="987552"/>
          </a:xfrm>
          <a:prstGeom prst="rect">
            <a:avLst/>
          </a:prstGeom>
          <a:solidFill>
            <a:srgbClr val="111422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 BOOTHS  ×2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2743200" cy="822960"/>
          </a:xfrm>
          <a:prstGeom prst="rect">
            <a:avLst/>
          </a:prstGeom>
          <a:solidFill>
            <a:srgbClr val="111422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68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 BOOTHS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46704" y="3675888"/>
            <a:ext cx="2642616" cy="822960"/>
          </a:xfrm>
          <a:prstGeom prst="rect">
            <a:avLst/>
          </a:prstGeom>
          <a:solidFill>
            <a:srgbClr val="111422"/>
          </a:solidFill>
          <a:ln w="7620">
            <a:solidFill>
              <a:srgbClr val="1E2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396849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0936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 LEGEND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09360" y="1874520"/>
            <a:ext cx="201168" cy="164592"/>
          </a:xfrm>
          <a:prstGeom prst="rect">
            <a:avLst/>
          </a:prstGeom>
          <a:solidFill>
            <a:srgbClr val="1A3F99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221992"/>
            <a:ext cx="201168" cy="164592"/>
          </a:xfrm>
          <a:prstGeom prst="rect">
            <a:avLst/>
          </a:prstGeom>
          <a:solidFill>
            <a:srgbClr val="111422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212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PS5 / PC / VR Zones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2569464"/>
            <a:ext cx="201168" cy="164592"/>
          </a:xfrm>
          <a:prstGeom prst="rect">
            <a:avLst/>
          </a:prstGeom>
          <a:solidFill>
            <a:srgbClr val="1A453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 Booths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916936"/>
            <a:ext cx="201168" cy="164592"/>
          </a:xfrm>
          <a:prstGeom prst="rect">
            <a:avLst/>
          </a:prstGeom>
          <a:solidFill>
            <a:srgbClr val="2A1A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907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 Seating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Total: 2,856 sq ft  ·  ~72% utilised  ·  28% buffer for walkways &amp; crew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GAMING STATIONS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PS5 Zone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Estimated area: 17.5 ft × 13 ft = 227 sq 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PS5 STATIONS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Station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1× PS5 Console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1× 55" 4K Display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2× DualSense Controllers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771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Headset + Stand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Space Layout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943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~2.5 ft × 2.5 ft footprint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943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Seated configuration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943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Cable management channel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943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Individual LED rig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Tournament Split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3115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3 stations: Open Play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3 stations: Bracket Mode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3115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Screen-off during finals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115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HDMI split to commentator feed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Back-to-back paired layout with shared cable strip saves ~30% floor area.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PC GAMING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PC Gaming Array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Estimated area: 24 ft × 13 ft = 312 sq 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PC STATIONS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Station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Gaming PC (i7 / RTX 40xx)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27" 144Hz Monitor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RGB Mech Keyboard + Mouse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771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LED underglow strip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Arrangement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943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2 rows of 4 (back-to-back)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943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Branded side panels visible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943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LED arch at row entry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943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Raised platform optional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 Titles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3115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Valorant / CS2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EA FC 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3115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Tekken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115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Sponsor-choice title slot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arches between rows create natural photo moments — perfect for sponsor branding on social content.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IMMERSIVE TECH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 Experience Booths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Estimated area: 17.5 ft × 13 ft = 227 sq ft  (×2 enclosed booths)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 BOOTHS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6771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Meta Quest 3 / PSVR2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Dedicated PC rendering unit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Guardian boundary tape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771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Spotter/attendant per booth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Booth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943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10×10 ft enclosed per booth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943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Branded entry 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943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Spectator monitor outside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943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Ticketed queuing system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1828800"/>
            <a:ext cx="2148840" cy="25146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Experiences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31152" y="2286000"/>
            <a:ext cx="27432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Beat Saber / Superhot VR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2825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Sponsor branded VR demo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31152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360° product showcase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1152" y="3630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Photo-finish capture screen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Spectator-facing screens mean crowds gather around booths — highest sponsor visibility zone in the hall.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&amp; Lighting Infrastructure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6420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73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Tower Rigs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2× corner LED towers (8 ft). 12'4" ceiling has full clearance. RGB programmable to brand palette.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66420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6420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73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RGB Strip Lighting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Under-table LED strips across all stations. Synced to music during event transitions.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1576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1576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LED Wall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12×7 ft LED panel backdrop on stage wall. Live game feeds, sponsor logos, real-time scores.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71576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1576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Moving Head Lights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4× moving heads on truss above stage. Audience wash + player spotlight for finals.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6732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76732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Neon Signage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4160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Khinext '26 neon at entrance. Custom sponsor neon sign available as add-on.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767328"/>
            <a:ext cx="4023360" cy="914400"/>
          </a:xfrm>
          <a:prstGeom prst="rect">
            <a:avLst/>
          </a:prstGeom>
          <a:solidFill>
            <a:srgbClr val="111422"/>
          </a:solidFill>
          <a:ln w="9525">
            <a:solidFill>
              <a:srgbClr val="1E23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67328"/>
            <a:ext cx="54864" cy="914400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Ambient Uplighting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4160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6× floor uplights on perimeter walls. Phase-programmed: setup, play, award ceremony.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SPACE UTILISATION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Capacity &amp; Area Breakdown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3464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DIMENSIONS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6052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 FT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6928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UNITS / NOTES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856232"/>
            <a:ext cx="8321040" cy="18288"/>
          </a:xfrm>
          <a:prstGeom prst="rect">
            <a:avLst/>
          </a:prstGeom>
          <a:solidFill>
            <a:srgbClr val="1E2340"/>
          </a:solidFill>
          <a:ln w="12700">
            <a:solidFill>
              <a:srgbClr val="1E2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38528"/>
            <a:ext cx="8321040" cy="374904"/>
          </a:xfrm>
          <a:prstGeom prst="rect">
            <a:avLst/>
          </a:prstGeom>
          <a:solidFill>
            <a:srgbClr val="111422"/>
          </a:solidFill>
          <a:ln w="12700">
            <a:solidFill>
              <a:srgbClr val="1114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02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 &amp; LED Wall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20025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 ft × 8.5 ft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60520" y="2002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2002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LED Wall, 1 Podium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377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PS5 Gaming Zone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2377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17.5 ft × 13 ft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60520" y="2377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Consoles, 6 Displays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688336"/>
            <a:ext cx="8321040" cy="374904"/>
          </a:xfrm>
          <a:prstGeom prst="rect">
            <a:avLst/>
          </a:prstGeom>
          <a:solidFill>
            <a:srgbClr val="111422"/>
          </a:solidFill>
          <a:ln w="12700">
            <a:solidFill>
              <a:srgbClr val="1114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52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PC Array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2752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 ft × 13 ft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60520" y="2752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2752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PCs, 2 Rows of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1272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 Booths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17.5 ft × 13 ft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60520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31272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Enclosed Booths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438144"/>
            <a:ext cx="8321040" cy="374904"/>
          </a:xfrm>
          <a:prstGeom prst="rect">
            <a:avLst/>
          </a:prstGeom>
          <a:solidFill>
            <a:srgbClr val="111422"/>
          </a:solidFill>
          <a:ln w="12700">
            <a:solidFill>
              <a:srgbClr val="1114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021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 / Exhibition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34640" y="35021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 ft × 7 ft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3502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0" y="3502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4–6 Booth Stalls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3877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 Seating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34640" y="38770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 ft × 5 ft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0520" y="3877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0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~50–60 Chairs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4187952"/>
            <a:ext cx="8321040" cy="374904"/>
          </a:xfrm>
          <a:prstGeom prst="rect">
            <a:avLst/>
          </a:prstGeom>
          <a:solidFill>
            <a:srgbClr val="111422"/>
          </a:solidFill>
          <a:ln w="12700">
            <a:solidFill>
              <a:srgbClr val="1114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Walkways &amp; Clearance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834640" y="4251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60520" y="4251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 exit compliance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1480" y="4544568"/>
            <a:ext cx="8321040" cy="374904"/>
          </a:xfrm>
          <a:prstGeom prst="rect">
            <a:avLst/>
          </a:prstGeom>
          <a:solidFill>
            <a:srgbClr val="1A3F99"/>
          </a:solidFill>
          <a:ln w="9525">
            <a:solidFill>
              <a:srgbClr val="2B6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08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USED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34640" y="46085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60520" y="4608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2,056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0" y="4608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2,856 sq ft  (72%)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PARTNERSHIP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Sponsorship Packages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697480" cy="3337560"/>
          </a:xfrm>
          <a:prstGeom prst="rect">
            <a:avLst/>
          </a:prstGeom>
          <a:solidFill>
            <a:srgbClr val="111422"/>
          </a:solidFill>
          <a:ln w="15240">
            <a:solidFill>
              <a:srgbClr val="2B6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2697480" cy="54864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_____ × Khinext '26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6072" y="2395728"/>
            <a:ext cx="2377440" cy="9144"/>
          </a:xfrm>
          <a:prstGeom prst="rect">
            <a:avLst/>
          </a:prstGeom>
          <a:solidFill>
            <a:srgbClr val="1E23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Name in: '_____ × Khinext '26'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6072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Main stage LED wall branding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VR booth branded experience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PA shoutout every 30 minutes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6072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1 dedicated exhibition stall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Social media co-branding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64408" y="1600200"/>
            <a:ext cx="2697480" cy="3337560"/>
          </a:xfrm>
          <a:prstGeom prst="rect">
            <a:avLst/>
          </a:prstGeom>
          <a:solidFill>
            <a:srgbClr val="111422"/>
          </a:solidFill>
          <a:ln w="15240">
            <a:solidFill>
              <a:srgbClr val="8B8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1600200"/>
            <a:ext cx="2697480" cy="5486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8FA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PLATINUM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Visibility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29000" y="2395728"/>
            <a:ext cx="2377440" cy="9144"/>
          </a:xfrm>
          <a:prstGeom prst="rect">
            <a:avLst/>
          </a:prstGeom>
          <a:solidFill>
            <a:srgbClr val="1E23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Logo on all LED tower screens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Branded PC station zone name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Stage backdrop logo placement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Event merchandise branding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290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On-site activation space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Post-event digital report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17336" y="1600200"/>
            <a:ext cx="2697480" cy="3337560"/>
          </a:xfrm>
          <a:prstGeom prst="rect">
            <a:avLst/>
          </a:prstGeom>
          <a:solidFill>
            <a:srgbClr val="111422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7336" y="1600200"/>
            <a:ext cx="26974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81928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Presence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81928" y="2395728"/>
            <a:ext cx="2377440" cy="9144"/>
          </a:xfrm>
          <a:prstGeom prst="rect">
            <a:avLst/>
          </a:prstGeom>
          <a:solidFill>
            <a:srgbClr val="1E23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Logo on stage backdrop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81928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1 sponsored gaming station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81928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Social media shoutouts (3×)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8192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Event banner placement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81928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Logo on event wristbands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81928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Half exhibition booth stall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BFF">
              <a:alpha val="6000"/>
            </a:srgbClr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6BFF"/>
          </a:solidFill>
          <a:ln w="12700">
            <a:solidFill>
              <a:srgbClr val="2B6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</a:t>
            </a:r>
            <a:pPr indent="0" marL="0">
              <a:buNone/>
            </a:pPr>
            <a:r>
              <a:rPr lang="en-US" sz="13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'26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Build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B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Something Unforgettable.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3200400" cy="18288"/>
          </a:xfrm>
          <a:prstGeom prst="rect">
            <a:avLst/>
          </a:prstGeom>
          <a:solidFill>
            <a:srgbClr val="1E2340"/>
          </a:solidFill>
          <a:ln w="6350">
            <a:solidFill>
              <a:srgbClr val="1E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Khinext '26  ·  Dilkusha Hall, Karachi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contact@khinext.pk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410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www.khinext.pk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@khinext26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Organised by Khinext  ·  Powered by the Community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Khinext '26 Sponsorship Proposal</dc:title>
  <dc:subject>PptxGenJS Presentation</dc:subject>
  <dc:creator>PptxGenJS</dc:creator>
  <cp:lastModifiedBy>PptxGenJS</cp:lastModifiedBy>
  <cp:revision>1</cp:revision>
  <dcterms:created xsi:type="dcterms:W3CDTF">2026-05-07T08:23:42Z</dcterms:created>
  <dcterms:modified xsi:type="dcterms:W3CDTF">2026-05-07T08:23:42Z</dcterms:modified>
</cp:coreProperties>
</file>